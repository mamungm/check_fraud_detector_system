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31"/>
    <p:restoredTop sz="94610"/>
  </p:normalViewPr>
  <p:slideViewPr>
    <p:cSldViewPr snapToGrid="0" snapToObjects="1">
      <p:cViewPr varScale="1">
        <p:scale>
          <a:sx n="174" d="100"/>
          <a:sy n="174" d="100"/>
        </p:scale>
        <p:origin x="4352" y="1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87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566160"/>
            <a:ext cx="4754880" cy="4754880"/>
          </a:xfrm>
          <a:prstGeom prst="ellipse">
            <a:avLst/>
          </a:prstGeom>
          <a:ln w="31750">
            <a:solidFill>
              <a:srgbClr val="13284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Shape 1"/>
          <p:cNvSpPr/>
          <p:nvPr/>
        </p:nvSpPr>
        <p:spPr>
          <a:xfrm>
            <a:off x="9692640" y="4389120"/>
            <a:ext cx="3108960" cy="3108960"/>
          </a:xfrm>
          <a:prstGeom prst="ellipse">
            <a:avLst/>
          </a:prstGeom>
          <a:ln w="31750">
            <a:solidFill>
              <a:srgbClr val="13284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4" name="Text 2"/>
          <p:cNvSpPr txBox="1"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NIGHT · AUGUST 29,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4884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Fraud</a:t>
            </a:r>
            <a:endParaRPr lang="en-US" sz="54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 System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event-driven microservices platform that scores every check deposit in real time — rules, machine learning, computer vision, and cross-bank intelligence working as 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806440"/>
            <a:ext cx="457200" cy="36576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8" name="Text 6"/>
          <p:cNvSpPr txBox="1"/>
          <p:nvPr/>
        </p:nvSpPr>
        <p:spPr>
          <a:xfrm>
            <a:off x="640080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Mamun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Bad Check Looks Random.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11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Network of Them Looks Like a Pattern.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fraud rarely shows up as one obvious red flag — it hides across images, accounts, devices, and institutions: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35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6" name="Shape 4"/>
          <p:cNvSpPr/>
          <p:nvPr/>
        </p:nvSpPr>
        <p:spPr>
          <a:xfrm>
            <a:off x="804672" y="2862072"/>
            <a:ext cx="640080" cy="640080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7" name="Image 0" descr="/tmp/demo_pptx/assets/icons/d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008376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8254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presentment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3209544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check, or a near-identical image, deposited more than once.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260604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35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1" name="Shape 8"/>
          <p:cNvSpPr/>
          <p:nvPr/>
        </p:nvSpPr>
        <p:spPr>
          <a:xfrm>
            <a:off x="6291072" y="2862072"/>
            <a:ext cx="640080" cy="640080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2" name="Image 1" descr="/tmp/demo_pptx/assets/icons/alte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300837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86600" y="28254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checks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86600" y="3209544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or payee on the image doesn’t match what was submitted.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66344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35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6" name="Shape 12"/>
          <p:cNvSpPr/>
          <p:nvPr/>
        </p:nvSpPr>
        <p:spPr>
          <a:xfrm>
            <a:off x="804672" y="4919472"/>
            <a:ext cx="640080" cy="640080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7" name="Image 2" descr="/tmp/demo_pptx/assets/icons/counterfe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06577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8828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&amp; forged checks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5266944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templates, copied layouts, or forged signatures.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035040" y="466344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35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1" name="Shape 16"/>
          <p:cNvSpPr/>
          <p:nvPr/>
        </p:nvSpPr>
        <p:spPr>
          <a:xfrm>
            <a:off x="6291072" y="4919472"/>
            <a:ext cx="640080" cy="640080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22" name="Image 3" descr="/tmp/demo_pptx/assets/icons/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5065776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86600" y="48828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Cross-institution rings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086600" y="5266944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payee, device, or account token reappearing across banks.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FRAUD DETECTOR SYSTEM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Deposit Gets One Explainable Score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check deposit event is created, five services independently evaluate it — rules, ML, image forensics, and consortium history — and the platform turns that into a single action.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6" name="Shape 4"/>
          <p:cNvSpPr/>
          <p:nvPr/>
        </p:nvSpPr>
        <p:spPr>
          <a:xfrm>
            <a:off x="1879092" y="2788920"/>
            <a:ext cx="768096" cy="768096"/>
          </a:xfrm>
          <a:prstGeom prst="ellipse">
            <a:avLst/>
          </a:prstGeom>
          <a:solidFill>
            <a:srgbClr val="E0334A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7" name="Image 0" descr="/tmp/demo_pptx/assets/icons/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116" y="2980944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749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206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0.85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duplicate presentment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988820" y="4910328"/>
            <a:ext cx="548640" cy="16459"/>
          </a:xfrm>
          <a:prstGeom prst="rect">
            <a:avLst/>
          </a:prstGeom>
          <a:solidFill>
            <a:srgbClr val="E0334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1" name="Text 8"/>
          <p:cNvSpPr txBox="1"/>
          <p:nvPr/>
        </p:nvSpPr>
        <p:spPr>
          <a:xfrm>
            <a:off x="777240" y="5029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is blocked pending investigation.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97680" y="242316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3" name="Shape 10"/>
          <p:cNvSpPr/>
          <p:nvPr/>
        </p:nvSpPr>
        <p:spPr>
          <a:xfrm>
            <a:off x="5628132" y="2788920"/>
            <a:ext cx="768096" cy="768096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4" name="Image 1" descr="/tmp/demo_pptx/assets/icons/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156" y="298094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80560" y="3749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REVIEW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4480560" y="4206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0.60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consortium high risk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737860" y="4910328"/>
            <a:ext cx="548640" cy="16459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8" name="Text 14"/>
          <p:cNvSpPr txBox="1"/>
          <p:nvPr/>
        </p:nvSpPr>
        <p:spPr>
          <a:xfrm>
            <a:off x="4526280" y="5029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a fraud analyst queue.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46720" y="242316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0" name="Shape 16"/>
          <p:cNvSpPr/>
          <p:nvPr/>
        </p:nvSpPr>
        <p:spPr>
          <a:xfrm>
            <a:off x="9377172" y="2788920"/>
            <a:ext cx="768096" cy="7680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21" name="Image 2" descr="/tmp/demo_pptx/assets/icons/p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196" y="2980944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229600" y="3749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19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0" y="4206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all thresholds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9486900" y="4910328"/>
            <a:ext cx="548640" cy="16459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5" name="Text 20"/>
          <p:cNvSpPr txBox="1"/>
          <p:nvPr/>
        </p:nvSpPr>
        <p:spPr>
          <a:xfrm>
            <a:off x="8275320" y="5029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proceeds normally.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FRAUD DETECTOR SYSTEM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111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168345" y="227309"/>
            <a:ext cx="7747627" cy="6504122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01600" dist="25400" dir="5400000" algn="bl" rotWithShape="0">
              <a:srgbClr val="9AA7BD">
                <a:alpha val="3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pic>
        <p:nvPicPr>
          <p:cNvPr id="5" name="Image 0" descr="/tmp/demo_pptx/assets/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656" y="284789"/>
            <a:ext cx="6830388" cy="63459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FRAUD DETECTOR SYSTEM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Microservices, One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35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6" name="Image 0" descr="/tmp/demo_pptx/assets/icons/svc-orchest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15798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Detector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9008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deposit events, fans out Kafka commands, aggregates results, streams status back over WebSocket.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33672" y="178308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35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1" name="Shape 8"/>
          <p:cNvSpPr/>
          <p:nvPr/>
        </p:nvSpPr>
        <p:spPr>
          <a:xfrm>
            <a:off x="4462272" y="2011680"/>
            <a:ext cx="566928" cy="566928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2" name="Image 1" descr="/tmp/demo_pptx/assets/icons/svc-consorti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215798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62272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Service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462272" y="299008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CROSS-BANK INTEL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4462272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matching across institutions using HMAC tokens — no raw PII ever leaves a bank.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918704" y="178308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35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7" name="Shape 13"/>
          <p:cNvSpPr/>
          <p:nvPr/>
        </p:nvSpPr>
        <p:spPr>
          <a:xfrm>
            <a:off x="8147304" y="2011680"/>
            <a:ext cx="566928" cy="566928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8" name="Image 2" descr="/tmp/demo_pptx/assets/icons/svc-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15798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47304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Service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147304" y="299008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8147304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check images for duplicates, OCR mismatches, layout and font anomalies, signatures.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391156" y="420624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35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3" name="Shape 18"/>
          <p:cNvSpPr/>
          <p:nvPr/>
        </p:nvSpPr>
        <p:spPr>
          <a:xfrm>
            <a:off x="2619756" y="4434840"/>
            <a:ext cx="566928" cy="566928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24" name="Image 3" descr="/tmp/demo_pptx/assets/icons/svc-m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6060" y="458114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619756" y="5120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2619756" y="54132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2619756" y="5669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XGBoost models turn features into a calibrated fraud probability and risk band.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076188" y="420624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35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9" name="Shape 23"/>
          <p:cNvSpPr/>
          <p:nvPr/>
        </p:nvSpPr>
        <p:spPr>
          <a:xfrm>
            <a:off x="6304788" y="4434840"/>
            <a:ext cx="566928" cy="566928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30" name="Image 4" descr="/tmp/demo_pptx/assets/icons/svc-rul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092" y="4581144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304788" y="5120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Service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6304788" y="54132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6304788" y="5669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deterministic rules and the final score into a HOLD / REVIEW / PASS action.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FRAUD DETECTOR SYSTEM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Consortium Intelligence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“single-bank view  →  network-level fraud view”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" cy="548640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6" name="Image 0" descr="/tmp/demo_pptx/assets/icons/to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1122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94767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index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25856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this payee, device, or check image appeared at many institutions recently?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0" name="Image 1" descr="/tmp/demo_pptx/assets/icons/relations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34670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31821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index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349300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payor – payee pair brand new, or does it have a history of confirmed fraud?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4" name="Image 2" descr="/tmp/demo_pptx/assets/icons/bank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58114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44165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Bank-flow index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1280160" y="472744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deposit-bank → clearing-bank corridor show an elevated fraud rate?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360920" y="1417320"/>
            <a:ext cx="4297680" cy="4892040"/>
          </a:xfrm>
          <a:prstGeom prst="roundRect">
            <a:avLst>
              <a:gd name="adj" fmla="val 2128"/>
            </a:avLst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8" name="Shape 13"/>
          <p:cNvSpPr/>
          <p:nvPr/>
        </p:nvSpPr>
        <p:spPr>
          <a:xfrm>
            <a:off x="9144000" y="1783080"/>
            <a:ext cx="731520" cy="731520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9" name="Image 3" descr="/tmp/demo_pptx/assets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36" y="195681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63524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Cross-Institution Score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680960" y="32461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r>
              <a:rPr lang="en-US" sz="1250" dirty="0">
                <a:solidFill>
                  <a:srgbClr val="C9D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0.55 × token risk       + 0.25 × relationship risk       + 0.20 × bank-flow risk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680960" y="4663440"/>
            <a:ext cx="3657600" cy="12802"/>
          </a:xfrm>
          <a:prstGeom prst="rect">
            <a:avLst/>
          </a:prstGeom>
          <a:solidFill>
            <a:srgbClr val="13284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3" name="Text 17"/>
          <p:cNvSpPr txBox="1"/>
          <p:nvPr/>
        </p:nvSpPr>
        <p:spPr>
          <a:xfrm>
            <a:off x="7680960" y="4892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stores HMAC tokens and aggregate counts — never raw account, payee, or device PII. Result includes top reasons, linked counts, and recency windows for a full explanation.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FRAUD DETECTOR SYSTEM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 + Machine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3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6" name="Image 0" descr="/tmp/demo_pptx/assets/icons/svc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883664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55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Service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0756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forensics on the check image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8680" y="2514600"/>
            <a:ext cx="420624" cy="420624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0" name="Image 1" descr="/tmp/demo_pptx/assets/icons/d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60604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49631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7432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hashing (pHash) flags reused or near-duplicate check images.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68680" y="3172968"/>
            <a:ext cx="420624" cy="420624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4" name="Image 2" descr="/tmp/demo_pptx/assets/icons/oc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26440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1546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amount check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340156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 compares the printed amount to the submitted amount.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68680" y="3831336"/>
            <a:ext cx="420624" cy="420624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8" name="Image 3" descr="/tmp/demo_pptx/assets/icons/layo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92277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17320" y="381304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anomaly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17320" y="40599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&amp; line detection checks the check’s structure looks normal.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868680" y="4489704"/>
            <a:ext cx="420624" cy="420624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22" name="Image 4" descr="/tmp/demo_pptx/assets/icons/signa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58114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17320" y="447141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/ endorsement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417320" y="471830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Ink-density scan of the signature and endorsement regions.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217920" y="1463040"/>
            <a:ext cx="5422392" cy="4892040"/>
          </a:xfrm>
          <a:prstGeom prst="roundRect">
            <a:avLst>
              <a:gd name="adj" fmla="val 1869"/>
            </a:avLst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6" name="Shape 19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27" name="Image 5" descr="/tmp/demo_pptx/assets/icons/xgbo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112" y="1856232"/>
            <a:ext cx="265176" cy="26517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132320" y="1755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7132320" y="20756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Two-stage, calibrated XGBoost scoring</a:t>
            </a:r>
            <a:endParaRPr lang="en-US" sz="1050" dirty="0"/>
          </a:p>
        </p:txBody>
      </p:sp>
      <p:sp>
        <p:nvSpPr>
          <p:cNvPr id="30" name="Text 22"/>
          <p:cNvSpPr txBox="1"/>
          <p:nvPr/>
        </p:nvSpPr>
        <p:spPr>
          <a:xfrm>
            <a:off x="6537960" y="2606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model</a:t>
            </a:r>
            <a:r>
              <a:rPr lang="en-US" sz="11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early risk from behavior, image &amp; rule signals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6537960" y="30358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in-clearing model</a:t>
            </a:r>
            <a:r>
              <a:rPr lang="en-US" sz="11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refines using clearing-stage evidence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6537960" y="3520440"/>
            <a:ext cx="4754880" cy="12802"/>
          </a:xfrm>
          <a:prstGeom prst="rect">
            <a:avLst/>
          </a:prstGeom>
          <a:solidFill>
            <a:srgbClr val="13284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3" name="Text 25"/>
          <p:cNvSpPr txBox="1"/>
          <p:nvPr/>
        </p:nvSpPr>
        <p:spPr>
          <a:xfrm>
            <a:off x="6537960" y="3675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max( deposit, 0.45×deposit + 0.55×in-clearing )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537960" y="4160520"/>
            <a:ext cx="1508760" cy="914400"/>
          </a:xfrm>
          <a:prstGeom prst="roundRect">
            <a:avLst>
              <a:gd name="adj" fmla="val 7000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5" name="Shape 27"/>
          <p:cNvSpPr/>
          <p:nvPr/>
        </p:nvSpPr>
        <p:spPr>
          <a:xfrm>
            <a:off x="7237476" y="4297680"/>
            <a:ext cx="109728" cy="109728"/>
          </a:xfrm>
          <a:prstGeom prst="ellipse">
            <a:avLst/>
          </a:prstGeom>
          <a:solidFill>
            <a:srgbClr val="E0334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6" name="Text 28"/>
          <p:cNvSpPr txBox="1"/>
          <p:nvPr/>
        </p:nvSpPr>
        <p:spPr>
          <a:xfrm>
            <a:off x="6583680" y="44622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≥ .85</a:t>
            </a:r>
            <a:endParaRPr lang="en-US" sz="950" dirty="0"/>
          </a:p>
        </p:txBody>
      </p:sp>
      <p:sp>
        <p:nvSpPr>
          <p:cNvPr id="37" name="Text 29"/>
          <p:cNvSpPr txBox="1"/>
          <p:nvPr/>
        </p:nvSpPr>
        <p:spPr>
          <a:xfrm>
            <a:off x="6583680" y="4754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8183880" y="4160520"/>
            <a:ext cx="1508760" cy="914400"/>
          </a:xfrm>
          <a:prstGeom prst="roundRect">
            <a:avLst>
              <a:gd name="adj" fmla="val 7000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39" name="Shape 31"/>
          <p:cNvSpPr/>
          <p:nvPr/>
        </p:nvSpPr>
        <p:spPr>
          <a:xfrm>
            <a:off x="8883396" y="4297680"/>
            <a:ext cx="109728" cy="109728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0" name="Text 32"/>
          <p:cNvSpPr txBox="1"/>
          <p:nvPr/>
        </p:nvSpPr>
        <p:spPr>
          <a:xfrm>
            <a:off x="8229600" y="44622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≥ .60</a:t>
            </a:r>
            <a:endParaRPr lang="en-US" sz="950" dirty="0"/>
          </a:p>
        </p:txBody>
      </p:sp>
      <p:sp>
        <p:nvSpPr>
          <p:cNvPr id="41" name="Text 33"/>
          <p:cNvSpPr txBox="1"/>
          <p:nvPr/>
        </p:nvSpPr>
        <p:spPr>
          <a:xfrm>
            <a:off x="8229600" y="4754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9829800" y="4160520"/>
            <a:ext cx="1508760" cy="914400"/>
          </a:xfrm>
          <a:prstGeom prst="roundRect">
            <a:avLst>
              <a:gd name="adj" fmla="val 7000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3" name="Shape 35"/>
          <p:cNvSpPr/>
          <p:nvPr/>
        </p:nvSpPr>
        <p:spPr>
          <a:xfrm>
            <a:off x="10529316" y="4297680"/>
            <a:ext cx="109728" cy="109728"/>
          </a:xfrm>
          <a:prstGeom prst="ellipse">
            <a:avLst/>
          </a:prstGeom>
          <a:solidFill>
            <a:srgbClr val="4CAF7D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44" name="Text 36"/>
          <p:cNvSpPr txBox="1"/>
          <p:nvPr/>
        </p:nvSpPr>
        <p:spPr>
          <a:xfrm>
            <a:off x="9875520" y="44622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MINIMAL</a:t>
            </a:r>
            <a:endParaRPr lang="en-US" sz="950" dirty="0"/>
          </a:p>
        </p:txBody>
      </p:sp>
      <p:sp>
        <p:nvSpPr>
          <p:cNvPr id="45" name="Text 37"/>
          <p:cNvSpPr txBox="1"/>
          <p:nvPr/>
        </p:nvSpPr>
        <p:spPr>
          <a:xfrm>
            <a:off x="9875520" y="4754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6537960" y="5257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ships with feature-level reasons — e.g. image_duplicate_score, critical_rule_hit_count — so analysts see why, not just what.</a:t>
            </a:r>
            <a:endParaRPr lang="en-US" sz="1050" dirty="0"/>
          </a:p>
        </p:txBody>
      </p:sp>
      <p:sp>
        <p:nvSpPr>
          <p:cNvPr id="47" name="Text 3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FRAUD DETECTOR SYSTEM</a:t>
            </a:r>
            <a:endParaRPr lang="en-US" sz="900" dirty="0"/>
          </a:p>
        </p:txBody>
      </p:sp>
      <p:sp>
        <p:nvSpPr>
          <p:cNvPr id="48" name="Text 40"/>
          <p:cNvSpPr txBox="1"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111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67559" y="226771"/>
            <a:ext cx="8134502" cy="6452007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01600" dist="25400" dir="5400000" algn="bl" rotWithShape="0">
              <a:srgbClr val="9AA7BD">
                <a:alpha val="3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pic>
        <p:nvPicPr>
          <p:cNvPr id="5" name="Image 0" descr="/tmp/demo_pptx/assets/sequenc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601" y="269161"/>
            <a:ext cx="7848151" cy="61316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FRAUD DETECTOR SYSTEM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IT LIVE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C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Kafka Event to Analyst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4709160"/>
          </a:xfrm>
          <a:prstGeom prst="roundRect">
            <a:avLst>
              <a:gd name="adj" fmla="val 1942"/>
            </a:avLst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5" name="Shape 3"/>
          <p:cNvSpPr/>
          <p:nvPr/>
        </p:nvSpPr>
        <p:spPr>
          <a:xfrm>
            <a:off x="841248" y="1801368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6" name="Image 0" descr="/tmp/demo_pptx/assets/icon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20240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828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Dashboard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stream in and update the dashboard live over a WebSocket — no polling, no refresh.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(HOLD / REVIEW / PASS) is color-coded with the contributing score, so an analyst can triage a queue in seconds.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4434840"/>
            <a:ext cx="4434840" cy="12802"/>
          </a:xfrm>
          <a:prstGeom prst="rect">
            <a:avLst/>
          </a:prstGeom>
          <a:solidFill>
            <a:srgbClr val="13284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0" name="Text 7"/>
          <p:cNvSpPr txBox="1"/>
          <p:nvPr/>
        </p:nvSpPr>
        <p:spPr>
          <a:xfrm>
            <a:off x="868680" y="4617720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new deposit event from the UI and watch it move through consortium, image, ML, and rules scoring in real time.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97880" y="1508760"/>
            <a:ext cx="2880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BD">
                <a:alpha val="3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2" name="Shape 9"/>
          <p:cNvSpPr/>
          <p:nvPr/>
        </p:nvSpPr>
        <p:spPr>
          <a:xfrm>
            <a:off x="6099048" y="1952244"/>
            <a:ext cx="530352" cy="530352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3" name="Image 1" descr="/tmp/demo_pptx/assets/icon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09854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12280" y="150876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TS UI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006840" y="1508760"/>
            <a:ext cx="2880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BD">
                <a:alpha val="3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16" name="Shape 12"/>
          <p:cNvSpPr/>
          <p:nvPr/>
        </p:nvSpPr>
        <p:spPr>
          <a:xfrm>
            <a:off x="9208008" y="1952244"/>
            <a:ext cx="530352" cy="530352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7" name="Image 2" descr="/tmp/demo_pptx/assets/icons/kaf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209854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921240" y="150876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897880" y="3154680"/>
            <a:ext cx="2880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BD">
                <a:alpha val="3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0" name="Shape 15"/>
          <p:cNvSpPr/>
          <p:nvPr/>
        </p:nvSpPr>
        <p:spPr>
          <a:xfrm>
            <a:off x="6099048" y="3598164"/>
            <a:ext cx="530352" cy="530352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21" name="Image 3" descr="/tmp/demo_pptx/assets/icons/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374446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12280" y="315468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9006840" y="3154680"/>
            <a:ext cx="2880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BD">
                <a:alpha val="3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4" name="Shape 18"/>
          <p:cNvSpPr/>
          <p:nvPr/>
        </p:nvSpPr>
        <p:spPr>
          <a:xfrm>
            <a:off x="9208008" y="3598164"/>
            <a:ext cx="530352" cy="530352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25" name="Image 4" descr="/tmp/demo_pptx/assets/icons/do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2" y="374446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921240" y="315468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5897880" y="4800600"/>
            <a:ext cx="2880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BD">
                <a:alpha val="3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28" name="Shape 21"/>
          <p:cNvSpPr/>
          <p:nvPr/>
        </p:nvSpPr>
        <p:spPr>
          <a:xfrm>
            <a:off x="6099048" y="5244084"/>
            <a:ext cx="530352" cy="530352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29" name="Image 5" descr="/tmp/demo_pptx/assets/icons/aw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5390388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812280" y="48006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/ AWS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9006840" y="4800600"/>
            <a:ext cx="2880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BD">
                <a:alpha val="30000"/>
              </a:srgbClr>
            </a:outerShdw>
          </a:effectLst>
        </p:spPr>
        <p:txBody>
          <a:bodyPr/>
          <a:lstStyle/>
          <a:p>
            <a:endParaRPr lang="en-BD"/>
          </a:p>
        </p:txBody>
      </p:sp>
      <p:sp>
        <p:nvSpPr>
          <p:cNvPr id="32" name="Shape 24"/>
          <p:cNvSpPr/>
          <p:nvPr/>
        </p:nvSpPr>
        <p:spPr>
          <a:xfrm>
            <a:off x="9208008" y="5244084"/>
            <a:ext cx="530352" cy="530352"/>
          </a:xfrm>
          <a:prstGeom prst="ellipse">
            <a:avLst/>
          </a:prstGeom>
          <a:solidFill>
            <a:srgbClr val="0B183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33" name="Image 6" descr="/tmp/demo_pptx/assets/icons/metric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4312" y="5390388"/>
            <a:ext cx="237744" cy="2377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921240" y="48006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/ Grafana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FRAUD DETECTOR SYSTEM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754880" cy="4754880"/>
          </a:xfrm>
          <a:prstGeom prst="ellipse">
            <a:avLst/>
          </a:prstGeom>
          <a:ln w="31750">
            <a:solidFill>
              <a:srgbClr val="13284A"/>
            </a:solidFill>
            <a:prstDash val="solid"/>
          </a:ln>
        </p:spPr>
        <p:txBody>
          <a:bodyPr/>
          <a:lstStyle/>
          <a:p>
            <a:endParaRPr lang="en-BD"/>
          </a:p>
        </p:txBody>
      </p:sp>
      <p:sp>
        <p:nvSpPr>
          <p:cNvPr id="3" name="Text 1"/>
          <p:cNvSpPr txBox="1"/>
          <p:nvPr/>
        </p:nvSpPr>
        <p:spPr>
          <a:xfrm>
            <a:off x="594360" y="5943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9052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MVP to Production-Grade Defense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512064" cy="512064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6" name="Image 0" descr="/tmp/demo_pptx/assets/icons/xgbo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933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8562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ML on real data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1488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synthetic training data for real deposit history; add image embeddings &amp; tamper detection.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4360" y="2926080"/>
            <a:ext cx="512064" cy="512064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0" name="Image 1" descr="/tmp/demo_pptx/assets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0449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9077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for production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320040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KMS-backed HMAC keys, immutable audit logs, model registry, champion/challenger deploys.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94360" y="3977640"/>
            <a:ext cx="512064" cy="512064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4" name="Image 2" descr="/tmp/demo_pptx/assets/icons/check-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09651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395935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what matters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1280160" y="425196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Precision/recall at-k, false-positive rate by institution, drift monitoring, latency SLOs.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680960" y="182880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13284A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18" name="Shape 13"/>
          <p:cNvSpPr/>
          <p:nvPr/>
        </p:nvSpPr>
        <p:spPr>
          <a:xfrm>
            <a:off x="9262872" y="2194560"/>
            <a:ext cx="768096" cy="768096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BD"/>
          </a:p>
        </p:txBody>
      </p:sp>
      <p:pic>
        <p:nvPicPr>
          <p:cNvPr id="19" name="Image 3" descr="/tmp/demo_pptx/assets/icons/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5752" y="2377440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955280" y="32004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stop check fraud,</a:t>
            </a:r>
            <a:endParaRPr lang="en-US" sz="17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event at a time.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9372600" y="4160520"/>
            <a:ext cx="548640" cy="16459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BD"/>
          </a:p>
        </p:txBody>
      </p:sp>
      <p:sp>
        <p:nvSpPr>
          <p:cNvPr id="22" name="Text 16"/>
          <p:cNvSpPr txBox="1"/>
          <p:nvPr/>
        </p:nvSpPr>
        <p:spPr>
          <a:xfrm>
            <a:off x="7955280" y="4343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95528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Mamun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FRAUD DETECTOR SYSTEM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850</Words>
  <Application>Microsoft Macintosh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 M Al Mamun</cp:lastModifiedBy>
  <cp:revision>3</cp:revision>
  <dcterms:created xsi:type="dcterms:W3CDTF">2026-08-29T03:22:30Z</dcterms:created>
  <dcterms:modified xsi:type="dcterms:W3CDTF">2026-08-29T03:26:35Z</dcterms:modified>
</cp:coreProperties>
</file>